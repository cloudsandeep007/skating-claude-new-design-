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8FAF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8FAFC"/>
                </a:solidFill>
                <a:latin typeface="Arial"/>
              </a:rPr>
              <a:t>Outcome of the 187 cases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cases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8FA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Pass</c:v>
                  </c:pt>
                  <c:pt idx="1">
                    <c:v>Blocked (email config)</c:v>
                  </c:pt>
                  <c:pt idx="2">
                    <c:v>Not run (out of scope)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152</c:v>
                </c:pt>
                <c:pt idx="1">
                  <c:v>2</c:v>
                </c:pt>
                <c:pt idx="2">
                  <c:v>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8FA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532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B2E"/>
        </a:solidFill>
        <a:ln>
          <a:noFill/>
        </a:ln>
        <a:effectLst/>
      </c:spPr>
    </c:plotArea>
    <c:plotVisOnly val="1"/>
    <c:dispBlanksAs val="span"/>
  </c:chart>
  <c:spPr>
    <a:solidFill>
      <a:srgbClr val="121B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what the platform is in one sentence. Four roles, one system of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6858000" cy="6858000"/>
          </a:xfrm>
          <a:prstGeom prst="ellipse">
            <a:avLst/>
          </a:prstGeom>
          <a:solidFill>
            <a:srgbClr val="0F2A33"/>
          </a:solidFill>
          <a:ln w="12700">
            <a:solidFill>
              <a:srgbClr val="0F2A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182880"/>
            <a:ext cx="3840480" cy="3840480"/>
          </a:xfrm>
          <a:prstGeom prst="ellipse">
            <a:avLst/>
          </a:prstGeom>
          <a:solidFill>
            <a:srgbClr val="113B47"/>
          </a:solidFill>
          <a:ln w="12700">
            <a:solidFill>
              <a:srgbClr val="113B4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Skating Academy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Platform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862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 for the academy office, the coach at the rink, and every family — skaters, batches, schedule, bookings, attendance, fees and progress in one place.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760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presentation ·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PRSA Skating Academy · Academy Management Platform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an academy today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office, the coach and the parent each struggle with — and what changes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16052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00100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PRSA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029968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 and WhatsApp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2029968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Enrolment, attendance and who is coming are scattered across notebooks, chats and memory.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2029968"/>
            <a:ext cx="3520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roster, live counts, a schedule everyone sees.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081528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book reconciliation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160520" y="3081528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Receipts, partial payments, advances and refunds are hard to tie out at month-end.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3081528"/>
            <a:ext cx="3520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receipts, an append-only payment ledger, a daily reconciliation report.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133088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actually turned up?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160520" y="4133088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Pay-per-class families argue over how many classes are left.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001000" y="4133088"/>
            <a:ext cx="3520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credit ledger driven by attendance — every class explained, line by line.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184648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 kept in the dark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160520" y="5184648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reminders, cancellations and confirmations go out by hand.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001000" y="5184648"/>
            <a:ext cx="3520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 see credits, bookings, fees and news on their phone, with notifications.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PRSA Skating Academy · Academy Management Platform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platform, four roles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person sees only their own screens and their own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567178" cy="4480560"/>
          </a:xfrm>
          <a:prstGeom prst="roundRect">
            <a:avLst>
              <a:gd name="adj" fmla="val 4987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06040"/>
            <a:ext cx="201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 admin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71800"/>
            <a:ext cx="201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office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29000"/>
            <a:ext cx="201853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Skaters, coaches, batches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&amp; holidays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Fees, receipts, reports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approvals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Announcements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90138" y="1645920"/>
            <a:ext cx="2567178" cy="4480560"/>
          </a:xfrm>
          <a:prstGeom prst="roundRect">
            <a:avLst>
              <a:gd name="adj" fmla="val 4987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64458" y="1920240"/>
            <a:ext cx="548640" cy="5486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64458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664458" y="2606040"/>
            <a:ext cx="201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664458" y="2971800"/>
            <a:ext cx="201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Rink-side, on a phone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664458" y="3429000"/>
            <a:ext cx="201853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Today’s sessions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attendance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booking requests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skills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31636" y="1645920"/>
            <a:ext cx="2567178" cy="4480560"/>
          </a:xfrm>
          <a:prstGeom prst="roundRect">
            <a:avLst>
              <a:gd name="adj" fmla="val 4987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05956" y="1920240"/>
            <a:ext cx="548640" cy="54864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05956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505956" y="2606040"/>
            <a:ext cx="201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505956" y="2971800"/>
            <a:ext cx="201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phone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505956" y="3429000"/>
            <a:ext cx="201853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 &amp; expiry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classes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Fees &amp; receipts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calendar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&amp; notifications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073134" y="1645920"/>
            <a:ext cx="2567178" cy="4480560"/>
          </a:xfrm>
          <a:prstGeom prst="roundRect">
            <a:avLst>
              <a:gd name="adj" fmla="val 4987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47454" y="1920240"/>
            <a:ext cx="548640" cy="548640"/>
          </a:xfrm>
          <a:prstGeom prst="ellipse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347454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347454" y="2606040"/>
            <a:ext cx="201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347454" y="2971800"/>
            <a:ext cx="201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owner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347454" y="3429000"/>
            <a:ext cx="201853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&amp; errors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PRSA Skating Academy · Academy Management Platform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at a glance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567178" cy="1417320"/>
          </a:xfrm>
          <a:prstGeom prst="roundRect">
            <a:avLst>
              <a:gd name="adj" fmla="val 9032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19072"/>
            <a:ext cx="2109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50592"/>
            <a:ext cx="2109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— from enrolment to reconciliation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90138" y="1554480"/>
            <a:ext cx="2567178" cy="1417320"/>
          </a:xfrm>
          <a:prstGeom prst="roundRect">
            <a:avLst>
              <a:gd name="adj" fmla="val 9032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8738" y="1719072"/>
            <a:ext cx="2109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18738" y="2450592"/>
            <a:ext cx="2109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with separate apps and data access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1636" y="1554480"/>
            <a:ext cx="2567178" cy="1417320"/>
          </a:xfrm>
          <a:prstGeom prst="roundRect">
            <a:avLst>
              <a:gd name="adj" fmla="val 9032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60236" y="1719072"/>
            <a:ext cx="2109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460236" y="2450592"/>
            <a:ext cx="2109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test cases executed in the browser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73134" y="1554480"/>
            <a:ext cx="2567178" cy="1417320"/>
          </a:xfrm>
          <a:prstGeom prst="roundRect">
            <a:avLst>
              <a:gd name="adj" fmla="val 9032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01734" y="1719072"/>
            <a:ext cx="2109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9301734" y="2450592"/>
            <a:ext cx="2109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 run before every release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35584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355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" y="3337560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Skaters &amp; families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" y="3593592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Profiles, parents, batches, levels, photos, activity trail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335584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0" y="3355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03136" y="3337560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03136" y="3593592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calendar generated from batch days; holidays; extra &amp; make-up sessions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13308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133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" y="4114800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 with approval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33856" y="4370832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 request, coach or admin confirms; credit held until decided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17920" y="413308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4133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803136" y="4114800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803136" y="4370832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marking on a phone; attendance is the source of truth for credits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491032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4910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" y="4892040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Fees &amp; payments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133856" y="5148072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Plans, calendar-aligned billing, receipts, partial payments, advances, voids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17920" y="491032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17920" y="4910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803136" y="4892040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Pay-per-class credits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803136" y="5148072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Prepaid top-ups with a term and expiry; ledger explains every class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568756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8640" y="5687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133856" y="5669280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1133856" y="5925312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Attendance, collection, reconciliation, progress, coach activity — CSV &amp; PDF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217920" y="568756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217920" y="5687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803136" y="5669280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6803136" y="5925312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Announcements by audience; in-app notifications for every money and booking event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PRSA Skating Academy · Academy Management Platform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academy stands right now, and who needs a call today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81728" y="1609916"/>
            <a:ext cx="7050024" cy="4461129"/>
          </a:xfrm>
          <a:prstGeom prst="roundRect">
            <a:avLst>
              <a:gd name="adj" fmla="val 2460"/>
            </a:avLst>
          </a:prstGeom>
          <a:solidFill>
            <a:srgbClr val="182338"/>
          </a:solidFill>
          <a:ln w="9525">
            <a:solidFill>
              <a:srgbClr val="2532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D:\Claude\Skatting - Copy\docs\presentation\shots\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683068"/>
            <a:ext cx="6903720" cy="431482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1600200"/>
            <a:ext cx="3931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skaters, today’s attendance, fees collected this month and outstanding dues — with last-month comparisons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trend, revenue collected vs expected, students per batch, skill distribution, retention, coach load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Renewals due — pay-per-class terms ending within 7 days, with a one-tap reminder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attention — skaters under 60% attendance in the last 30 days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the dashboard to PDF for the monthly committee meeting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PRSA Skating Academy · Academy Management Platform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Skaters &amp; families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about a skater on one profile — and every change recorded automatically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" y="1481328"/>
            <a:ext cx="5632704" cy="3575304"/>
          </a:xfrm>
          <a:prstGeom prst="roundRect">
            <a:avLst>
              <a:gd name="adj" fmla="val 3069"/>
            </a:avLst>
          </a:prstGeom>
          <a:solidFill>
            <a:srgbClr val="182338"/>
          </a:solidFill>
          <a:ln w="9525">
            <a:solidFill>
              <a:srgbClr val="2532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D:\Claude\Skatting - Copy\docs\presentation\shots\admin-stud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486400" cy="3429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90488" y="1509903"/>
            <a:ext cx="5541264" cy="3518154"/>
          </a:xfrm>
          <a:prstGeom prst="roundRect">
            <a:avLst>
              <a:gd name="adj" fmla="val 3119"/>
            </a:avLst>
          </a:prstGeom>
          <a:solidFill>
            <a:srgbClr val="182338"/>
          </a:solidFill>
          <a:ln w="9525">
            <a:solidFill>
              <a:srgbClr val="2532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1" descr="D:\Claude\Skatting - Copy\docs\presentation\shots\admin-student-activ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83055"/>
            <a:ext cx="5394960" cy="33718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518464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5184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133856" y="516636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&amp; filter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133856" y="5422392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name, batch, status; sort any column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297680" y="518464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297680" y="5184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882896" y="516636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in one form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882896" y="5422392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Skater, emergency contact, batch, level, fee plan, parent (invite or link)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46720" y="518464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046720" y="5184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8631936" y="516636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tabs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631936" y="5422392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· Attendance &amp; credits · Progress · Fees · Activity · Notes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48640" y="587044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48640" y="5870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1133856" y="585216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trail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1133856" y="6108192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Fees, payments, bookings, attendance — who changed what, when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297680" y="587044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297680" y="5870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4882896" y="585216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 &amp; restore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4882896" y="6108192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Leaving skaters keep their history; nothing is deleted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PRSA Skating Academy · Academy Management Platform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Batches &amp; coaches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Timing, days, venue, capacity and a coach per batch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" y="1481328"/>
            <a:ext cx="5632704" cy="3575304"/>
          </a:xfrm>
          <a:prstGeom prst="roundRect">
            <a:avLst>
              <a:gd name="adj" fmla="val 3069"/>
            </a:avLst>
          </a:prstGeom>
          <a:solidFill>
            <a:srgbClr val="182338"/>
          </a:solidFill>
          <a:ln w="9525">
            <a:solidFill>
              <a:srgbClr val="2532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D:\Claude\Skatting - Copy\docs\presentation\shots\admin-batch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486400" cy="3429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90488" y="1509903"/>
            <a:ext cx="5541264" cy="3518154"/>
          </a:xfrm>
          <a:prstGeom prst="roundRect">
            <a:avLst>
              <a:gd name="adj" fmla="val 3119"/>
            </a:avLst>
          </a:prstGeom>
          <a:solidFill>
            <a:srgbClr val="182338"/>
          </a:solidFill>
          <a:ln w="9525">
            <a:solidFill>
              <a:srgbClr val="2532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1" descr="D:\Claude\Skatting - Copy\docs\presentation\shots\admin-coach-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83055"/>
            <a:ext cx="5394960" cy="337185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512064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= days of the week + start/end time + venue + capacity; enrolment is tracked against capacity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the schedule for any date range from the batch’s days — holidays skipped, coach clashes reported, existing sessions left alone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Coaches are invited by email, assigned to batches, and see only their own sessions in the coach app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a batch is explicit and explained: sessions and attendance go with it; deactivating pauses it instead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PRSA Skating Academy · Academy Management Platform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weekly calendar the office, the coach and the parents all read from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" y="1498473"/>
            <a:ext cx="6821424" cy="4318254"/>
          </a:xfrm>
          <a:prstGeom prst="roundRect">
            <a:avLst>
              <a:gd name="adj" fmla="val 2541"/>
            </a:avLst>
          </a:prstGeom>
          <a:solidFill>
            <a:srgbClr val="182338"/>
          </a:solidFill>
          <a:ln w="9525">
            <a:solidFill>
              <a:srgbClr val="2532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D:\Claude\Skatting - Copy\docs\presentation\shots\admin-sche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1625"/>
            <a:ext cx="6675120" cy="41719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03236" y="1481328"/>
            <a:ext cx="3950208" cy="2523744"/>
          </a:xfrm>
          <a:prstGeom prst="roundRect">
            <a:avLst>
              <a:gd name="adj" fmla="val 4348"/>
            </a:avLst>
          </a:prstGeom>
          <a:solidFill>
            <a:srgbClr val="182338"/>
          </a:solidFill>
          <a:ln w="9525">
            <a:solidFill>
              <a:srgbClr val="2532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1" descr="D:\Claude\Skatting - Copy\docs\presentation\shots\admin-coming-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388" y="1554480"/>
            <a:ext cx="3803904" cy="23774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498080" y="413308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98080" y="4133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083296" y="4114800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view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083296" y="4370832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Booked and requested counts on every card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498080" y="4700016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498080" y="4700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8083296" y="4681728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&amp; make-up sessions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083296" y="4937760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 classes get a linked make-up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498080" y="5266944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498080" y="5266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8083296" y="5248656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Holidays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083296" y="5504688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Dates the generator skips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7498080" y="5833872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498080" y="5833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8083296" y="5815584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up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8083296" y="6071616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has booked in the next 7 days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PRSA Skating Academy · Academy Management Platform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 with approval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parent requests a class; the batch coach or the office confirms 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8725" y="1481328"/>
            <a:ext cx="2614430" cy="4718304"/>
          </a:xfrm>
          <a:prstGeom prst="roundRect">
            <a:avLst>
              <a:gd name="adj" fmla="val 4197"/>
            </a:avLst>
          </a:prstGeom>
          <a:solidFill>
            <a:srgbClr val="182338"/>
          </a:solidFill>
          <a:ln w="9525">
            <a:solidFill>
              <a:srgbClr val="2532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D:\Claude\Skatting - Copy\docs\presentation\shots\parent-schedule-reques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877" y="1554480"/>
            <a:ext cx="2468126" cy="45720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71877" y="6236208"/>
            <a:ext cx="24681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Parent: “Awaiting approval”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1925" y="1481328"/>
            <a:ext cx="2614430" cy="4718304"/>
          </a:xfrm>
          <a:prstGeom prst="roundRect">
            <a:avLst>
              <a:gd name="adj" fmla="val 4197"/>
            </a:avLst>
          </a:prstGeom>
          <a:solidFill>
            <a:srgbClr val="182338"/>
          </a:solidFill>
          <a:ln w="9525">
            <a:solidFill>
              <a:srgbClr val="2532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1" descr="D:\Claude\Skatting - Copy\docs\presentation\shots\coach-book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077" y="1554480"/>
            <a:ext cx="2468126" cy="45720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15077" y="6236208"/>
            <a:ext cx="24681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Coach: approve or decline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067044" y="1481328"/>
            <a:ext cx="5559552" cy="3529584"/>
          </a:xfrm>
          <a:prstGeom prst="roundRect">
            <a:avLst>
              <a:gd name="adj" fmla="val 3109"/>
            </a:avLst>
          </a:prstGeom>
          <a:solidFill>
            <a:srgbClr val="182338"/>
          </a:solidFill>
          <a:ln w="9525">
            <a:solidFill>
              <a:srgbClr val="2532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3" name="Image 2" descr="D:\Claude\Skatting - Copy\docs\presentation\shots\admin-bookin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196" y="1554480"/>
            <a:ext cx="5413248" cy="33832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140196" y="5047488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Admin: the whole academy’s queue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6080760" y="548640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is held at request time, returned if declined or withdrawn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 with a reason the parent sees; “Approve all” per session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sees the status: Requested · Confirmed · Declined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still wins — a request marked present is confirmed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PRSA Skating Academy · Academy Management Platform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at the rink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 per skater on the coach’s phone — and it drives the credits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6384" y="1481328"/>
            <a:ext cx="2639112" cy="4764024"/>
          </a:xfrm>
          <a:prstGeom prst="roundRect">
            <a:avLst>
              <a:gd name="adj" fmla="val 4158"/>
            </a:avLst>
          </a:prstGeom>
          <a:solidFill>
            <a:srgbClr val="182338"/>
          </a:solidFill>
          <a:ln w="9525">
            <a:solidFill>
              <a:srgbClr val="2532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D:\Claude\Skatting - Copy\docs\presentation\shots\coach-to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536" y="1554480"/>
            <a:ext cx="2492808" cy="46177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59536" y="6281928"/>
            <a:ext cx="24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Coach: today’s sessions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83864" y="1481328"/>
            <a:ext cx="2639112" cy="4764024"/>
          </a:xfrm>
          <a:prstGeom prst="roundRect">
            <a:avLst>
              <a:gd name="adj" fmla="val 4158"/>
            </a:avLst>
          </a:prstGeom>
          <a:solidFill>
            <a:srgbClr val="182338"/>
          </a:solidFill>
          <a:ln w="9525">
            <a:solidFill>
              <a:srgbClr val="2532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1" descr="D:\Claude\Skatting - Copy\docs\presentation\shots\coach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016" y="1554480"/>
            <a:ext cx="2492808" cy="46177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57016" y="6281928"/>
            <a:ext cx="24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to mark, confirm once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608076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rules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80760" y="1920240"/>
            <a:ext cx="2743200" cy="621792"/>
          </a:xfrm>
          <a:prstGeom prst="roundRect">
            <a:avLst>
              <a:gd name="adj" fmla="val 20588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17920" y="2121408"/>
            <a:ext cx="219456" cy="21945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537960" y="199339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Booked · present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537960" y="22311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spent (already held at booking)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80760" y="2651760"/>
            <a:ext cx="2743200" cy="621792"/>
          </a:xfrm>
          <a:prstGeom prst="roundRect">
            <a:avLst>
              <a:gd name="adj" fmla="val 20588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7920" y="2852928"/>
            <a:ext cx="219456" cy="219456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537960" y="27249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Booked · absent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6537960" y="296265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returned to the family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080760" y="3383280"/>
            <a:ext cx="2743200" cy="621792"/>
          </a:xfrm>
          <a:prstGeom prst="roundRect">
            <a:avLst>
              <a:gd name="adj" fmla="val 20588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217920" y="3584448"/>
            <a:ext cx="219456" cy="21945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537960" y="345643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booked · present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6537960" y="36941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Walk-in: one credit spent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080760" y="4114800"/>
            <a:ext cx="2743200" cy="621792"/>
          </a:xfrm>
          <a:prstGeom prst="roundRect">
            <a:avLst>
              <a:gd name="adj" fmla="val 20588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217920" y="4315968"/>
            <a:ext cx="219456" cy="21945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537960" y="418795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marked</a:t>
            </a:r>
            <a:endParaRPr lang="en-US" sz="1150" dirty="0"/>
          </a:p>
        </p:txBody>
      </p:sp>
      <p:sp>
        <p:nvSpPr>
          <p:cNvPr id="28" name="Text 24"/>
          <p:cNvSpPr txBox="1"/>
          <p:nvPr/>
        </p:nvSpPr>
        <p:spPr>
          <a:xfrm>
            <a:off x="6537960" y="442569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Released when the session is closed</a:t>
            </a:r>
            <a:endParaRPr lang="en-US" sz="950" dirty="0"/>
          </a:p>
        </p:txBody>
      </p:sp>
      <p:sp>
        <p:nvSpPr>
          <p:cNvPr id="29" name="Text 25"/>
          <p:cNvSpPr txBox="1"/>
          <p:nvPr/>
        </p:nvSpPr>
        <p:spPr>
          <a:xfrm>
            <a:off x="9098280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9098280" y="1920240"/>
            <a:ext cx="2560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Roster shows Booked / Requested / Not booked per skater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“Mark all present”, then tap the exceptions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 — marks queue on the phone and save when the signal returns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Yesterday stays open for corrections; older sessions are locked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sees attendance by date, batch or skater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PRSA Skating Academy · Academy Management Platform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credits, explained line by line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Pay-per-class families buy classes in blocks; the ledger shows where each one went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98848" y="1552766"/>
            <a:ext cx="7232904" cy="4575429"/>
          </a:xfrm>
          <a:prstGeom prst="roundRect">
            <a:avLst>
              <a:gd name="adj" fmla="val 2398"/>
            </a:avLst>
          </a:prstGeom>
          <a:solidFill>
            <a:srgbClr val="182338"/>
          </a:solidFill>
          <a:ln w="9525">
            <a:solidFill>
              <a:srgbClr val="2532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D:\Claude\Skatting - Copy\docs\presentation\shots\admin-student-cred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625918"/>
            <a:ext cx="7086600" cy="442912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66420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33856" y="164592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Prepaid top-ups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33856" y="1901952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of classes at the batch rate; minimum 8 / 24 / 96 for monthly, quarterly, annual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76148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33856" y="274320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term with an expiry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133856" y="2999232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 are valid till the term ends; renew before then to carry unused classes forward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85876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858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33856" y="384048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ledger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33856" y="4096512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· spent · returned · expired · adjusted — every line with who and why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495604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133856" y="493776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negative surprises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133856" y="5193792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void that would take back used credits shows the consequence first (clawback preview)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PRSA Skating Academy · Academy Management Platform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Fees &amp; billing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Plans, calendar-aligned periods, and a dashboard that answers “who owes what”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" y="1498473"/>
            <a:ext cx="6821424" cy="4318254"/>
          </a:xfrm>
          <a:prstGeom prst="roundRect">
            <a:avLst>
              <a:gd name="adj" fmla="val 2541"/>
            </a:avLst>
          </a:prstGeom>
          <a:solidFill>
            <a:srgbClr val="182338"/>
          </a:solidFill>
          <a:ln w="9525">
            <a:solidFill>
              <a:srgbClr val="2532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D:\Claude\Skatting - Copy\docs\presentation\shots\admin-fe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1625"/>
            <a:ext cx="6675120" cy="41719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03236" y="1481328"/>
            <a:ext cx="3950208" cy="2523744"/>
          </a:xfrm>
          <a:prstGeom prst="roundRect">
            <a:avLst>
              <a:gd name="adj" fmla="val 4348"/>
            </a:avLst>
          </a:prstGeom>
          <a:solidFill>
            <a:srgbClr val="182338"/>
          </a:solidFill>
          <a:ln w="9525">
            <a:solidFill>
              <a:srgbClr val="2532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1" descr="D:\Claude\Skatting - Copy\docs\presentation\shots\admin-fee-pla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388" y="1554480"/>
            <a:ext cx="3803904" cy="23774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498080" y="408736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98080" y="4087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083296" y="4069080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plans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083296" y="4325112"/>
            <a:ext cx="3575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cycle (monthly / quarterly / annual) or per-class; scoped to a batch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498080" y="486460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498080" y="4864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8083296" y="4846320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that can’t stop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083296" y="5102352"/>
            <a:ext cx="3575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ahead, pro-rated for mid-month joins, re-priced when a plan changes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498080" y="564184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498080" y="5641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8083296" y="5623560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Collected · Pending · Overdue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083296" y="5879592"/>
            <a:ext cx="3575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picker, batch and status filters, CSV export, bulk reminders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PRSA Skating Academy · Academy Management Platform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you can trust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receipts, partial payments, advances and voids — nothing is ever deleted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98848" y="1552766"/>
            <a:ext cx="7232904" cy="4575429"/>
          </a:xfrm>
          <a:prstGeom prst="roundRect">
            <a:avLst>
              <a:gd name="adj" fmla="val 2398"/>
            </a:avLst>
          </a:prstGeom>
          <a:solidFill>
            <a:srgbClr val="182338"/>
          </a:solidFill>
          <a:ln w="9525">
            <a:solidFill>
              <a:srgbClr val="2532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D:\Claude\Skatting - Copy\docs\presentation\shots\admin-student-fe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625918"/>
            <a:ext cx="7086600" cy="442912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66420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33856" y="164592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numbers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33856" y="1901952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PRSA-2026-000027 — sequential per year; the parent gets the receipt as a notification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76148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33856" y="274320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&amp; overpayment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133856" y="2999232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in parts; extra is kept as an advance and applied to the next fee (or “Apply now”)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85876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858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33856" y="384048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Void, never delete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33856" y="4096512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wrong entry is crossed out with a reason; status and balance recalculate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495604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133856" y="493776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Waive with a reason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133856" y="5193792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Sibling discounts and hardship cases are recorded, not hidden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PRSA Skating Academy · Academy Management Platform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month-end reconciliation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reports, any date range, CSV and PDF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" y="1498473"/>
            <a:ext cx="6821424" cy="4318254"/>
          </a:xfrm>
          <a:prstGeom prst="roundRect">
            <a:avLst>
              <a:gd name="adj" fmla="val 2541"/>
            </a:avLst>
          </a:prstGeom>
          <a:solidFill>
            <a:srgbClr val="182338"/>
          </a:solidFill>
          <a:ln w="9525">
            <a:solidFill>
              <a:srgbClr val="2532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D:\Claude\Skatting - Copy\docs\presentation\shots\admin-reports-reconcili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1625"/>
            <a:ext cx="6675120" cy="41719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03236" y="1481328"/>
            <a:ext cx="3950208" cy="2523744"/>
          </a:xfrm>
          <a:prstGeom prst="roundRect">
            <a:avLst>
              <a:gd name="adj" fmla="val 4348"/>
            </a:avLst>
          </a:prstGeom>
          <a:solidFill>
            <a:srgbClr val="182338"/>
          </a:solidFill>
          <a:ln w="9525">
            <a:solidFill>
              <a:srgbClr val="2532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1" descr="D:\Claude\Skatting - Copy\docs\presentation\shots\admin-reports-attend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388" y="1554480"/>
            <a:ext cx="3803904" cy="23774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498080" y="408736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98080" y="4087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083296" y="4069080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083296" y="4325112"/>
            <a:ext cx="3575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day: cash / UPI / card / bank / cheque, receipt range, voided, advances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498080" y="486460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498080" y="4864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8083296" y="4846320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&amp; fee collection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083296" y="5102352"/>
            <a:ext cx="3575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skater, per batch, for any range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498080" y="564184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498080" y="5641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8083296" y="5623560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&amp; coach activity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083296" y="5879592"/>
            <a:ext cx="3575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achieved, sessions taken, attendance per coach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PRSA Skating Academy · Academy Management Platform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Announcements &amp; notifications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everyone, only parents, only coaches, or one batch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" y="1498473"/>
            <a:ext cx="6821424" cy="4318254"/>
          </a:xfrm>
          <a:prstGeom prst="roundRect">
            <a:avLst>
              <a:gd name="adj" fmla="val 2541"/>
            </a:avLst>
          </a:prstGeom>
          <a:solidFill>
            <a:srgbClr val="182338"/>
          </a:solidFill>
          <a:ln w="9525">
            <a:solidFill>
              <a:srgbClr val="2532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D:\Claude\Skatting - Copy\docs\presentation\shots\admin-announcement-dia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1625"/>
            <a:ext cx="6675120" cy="41719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20387" y="1481328"/>
            <a:ext cx="2515705" cy="4535424"/>
          </a:xfrm>
          <a:prstGeom prst="roundRect">
            <a:avLst>
              <a:gd name="adj" fmla="val 4362"/>
            </a:avLst>
          </a:prstGeom>
          <a:solidFill>
            <a:srgbClr val="182338"/>
          </a:solidFill>
          <a:ln w="9525">
            <a:solidFill>
              <a:srgbClr val="2532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1" descr="D:\Claude\Skatting - Copy\docs\presentation\shots\parent-new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3539" y="1554480"/>
            <a:ext cx="2369401" cy="43891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593539" y="6053328"/>
            <a:ext cx="23694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Parent: News tab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1019556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notifications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10195560" y="2057400"/>
            <a:ext cx="1508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received (with receipt no.)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due / overdue reminders (opt-in, nightly)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term ending — renew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confirmed / declined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cancelled · make-up scheduled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announcement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PRSA Skating Academy · Academy Management Platform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progression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ladder of levels and skills the coach assesses from the roster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" y="1481328"/>
            <a:ext cx="5632704" cy="3575304"/>
          </a:xfrm>
          <a:prstGeom prst="roundRect">
            <a:avLst>
              <a:gd name="adj" fmla="val 3069"/>
            </a:avLst>
          </a:prstGeom>
          <a:solidFill>
            <a:srgbClr val="182338"/>
          </a:solidFill>
          <a:ln w="9525">
            <a:solidFill>
              <a:srgbClr val="2532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D:\Claude\Skatting - Copy\docs\presentation\shots\admin-prog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486400" cy="3429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90488" y="1509903"/>
            <a:ext cx="5541264" cy="3518154"/>
          </a:xfrm>
          <a:prstGeom prst="roundRect">
            <a:avLst>
              <a:gd name="adj" fmla="val 3119"/>
            </a:avLst>
          </a:prstGeom>
          <a:solidFill>
            <a:srgbClr val="182338"/>
          </a:solidFill>
          <a:ln w="9525">
            <a:solidFill>
              <a:srgbClr val="2532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1" descr="D:\Claude\Skatting - Copy\docs\presentation\shots\admin-leve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83055"/>
            <a:ext cx="5394960" cy="337185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512064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Levels &amp; skills are the academy’s own — add, rename, reorder by drag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taps “Assess skills” on any skater from the attendance roster; achievements are dated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shows the distribution across levels and who hasn’t progressed in 60 days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 see their child’s level and achievements on the Progress tab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PRSA Skating Academy · Academy Management Platform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parent app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Phone-first. Credits, bookings and fees at a glance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6384" y="1481328"/>
            <a:ext cx="2639112" cy="4764024"/>
          </a:xfrm>
          <a:prstGeom prst="roundRect">
            <a:avLst>
              <a:gd name="adj" fmla="val 4158"/>
            </a:avLst>
          </a:prstGeom>
          <a:solidFill>
            <a:srgbClr val="182338"/>
          </a:solidFill>
          <a:ln w="9525">
            <a:solidFill>
              <a:srgbClr val="2532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D:\Claude\Skatting - Copy\docs\presentation\shots\parent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536" y="1554480"/>
            <a:ext cx="2492808" cy="46177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59536" y="6281928"/>
            <a:ext cx="24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75304" y="1481328"/>
            <a:ext cx="2639112" cy="4764024"/>
          </a:xfrm>
          <a:prstGeom prst="roundRect">
            <a:avLst>
              <a:gd name="adj" fmla="val 4158"/>
            </a:avLst>
          </a:prstGeom>
          <a:solidFill>
            <a:srgbClr val="182338"/>
          </a:solidFill>
          <a:ln w="9525">
            <a:solidFill>
              <a:srgbClr val="2532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1" descr="D:\Claude\Skatting - Copy\docs\presentation\shots\parent-schedu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456" y="1554480"/>
            <a:ext cx="2492808" cy="46177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48456" y="6281928"/>
            <a:ext cx="24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&amp; bookings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064224" y="1481328"/>
            <a:ext cx="2639112" cy="4764024"/>
          </a:xfrm>
          <a:prstGeom prst="roundRect">
            <a:avLst>
              <a:gd name="adj" fmla="val 4158"/>
            </a:avLst>
          </a:prstGeom>
          <a:solidFill>
            <a:srgbClr val="182338"/>
          </a:solidFill>
          <a:ln w="9525">
            <a:solidFill>
              <a:srgbClr val="2532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3" name="Image 2" descr="D:\Claude\Skatting - Copy\docs\presentation\shots\parent-fe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376" y="1554480"/>
            <a:ext cx="2492808" cy="46177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137376" y="6281928"/>
            <a:ext cx="24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9006840" y="166420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9006840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9592056" y="164592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 &amp; expiry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9592056" y="1901952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left and the date they expire, on every screen that matters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06840" y="303580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9006840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9592056" y="301752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in seconds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9592056" y="3273552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 / next week; Book, Withdraw, Cancel; see Requested → Confirmed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9006840" y="440740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00684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9592056" y="438912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Fees, simply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9592056" y="4645152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“Due now” or “All paid up”, current period, top-ups, last receipt; older periods folded away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PRSA Skating Academy · Academy Management Platform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parent app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as a calendar, news that reaches them, one login for every child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6384" y="1481328"/>
            <a:ext cx="2639112" cy="4764024"/>
          </a:xfrm>
          <a:prstGeom prst="roundRect">
            <a:avLst>
              <a:gd name="adj" fmla="val 4158"/>
            </a:avLst>
          </a:prstGeom>
          <a:solidFill>
            <a:srgbClr val="182338"/>
          </a:solidFill>
          <a:ln w="9525">
            <a:solidFill>
              <a:srgbClr val="2532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D:\Claude\Skatting - Copy\docs\presentation\shots\parent-attend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536" y="1554480"/>
            <a:ext cx="2492808" cy="46177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59536" y="6281928"/>
            <a:ext cx="24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calendar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75304" y="1481328"/>
            <a:ext cx="2639112" cy="4764024"/>
          </a:xfrm>
          <a:prstGeom prst="roundRect">
            <a:avLst>
              <a:gd name="adj" fmla="val 4158"/>
            </a:avLst>
          </a:prstGeom>
          <a:solidFill>
            <a:srgbClr val="182338"/>
          </a:solidFill>
          <a:ln w="9525">
            <a:solidFill>
              <a:srgbClr val="2532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1" descr="D:\Claude\Skatting - Copy\docs\presentation\shots\parent-new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456" y="1554480"/>
            <a:ext cx="2492808" cy="46177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48456" y="6281928"/>
            <a:ext cx="24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&amp; notifications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172200" y="166420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172200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757416" y="1645920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at a glance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757416" y="1901952"/>
            <a:ext cx="4901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dot per class — present, late, absent, not marked; tap a day for detail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172200" y="276148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172200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757416" y="2743200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login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757416" y="2999232"/>
            <a:ext cx="4901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between children; each has their own credits, bookings and fees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172200" y="385876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172200" y="3858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757416" y="3840480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6757416" y="4096512"/>
            <a:ext cx="4901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phone, change password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172200" y="4956048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172200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757416" y="4937760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their own data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6757416" y="5193792"/>
            <a:ext cx="4901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Row-level security in the database — a parent can never see another family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PRSA Skating Academy · Academy Management Platform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trust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 live in the database, not just on the screen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94960" cy="128016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16712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Admin, coach, parent and platform owner each get their own app; the wrong URL shows a 403.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5394960" cy="128016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92024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Row-level security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216712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table is fenced by academy and by role — a parent’s query only ever returns their children.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5394960" cy="128016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383280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3375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money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63016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are never edited or deleted; voids keep the record with a reason. Fee status is derived, never typed.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154680"/>
            <a:ext cx="5394960" cy="128016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3383280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465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33375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Ledgers for credits &amp; advances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363016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credits and advance balances are sums of dated, attributed lines.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617720"/>
            <a:ext cx="5394960" cy="128016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846320"/>
            <a:ext cx="457200" cy="45720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4800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417320" y="509320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change to a skater’s fees, payments, bookings and attendance is logged automatically and shown on the Activity tab.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617720"/>
            <a:ext cx="5394960" cy="128016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46520" y="4846320"/>
            <a:ext cx="457200" cy="45720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4652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86600" y="4800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Guards in the database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086600" y="509320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payment can’t be dated in the future; a booking can’t exceed the window; a fee can’t be flipped to paid by hand.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PRSA Skating Academy · Academy Management Platform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runs itself overnight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scheduled job keeps billing, credits and reminders current without anyone logging 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035454" cy="2194560"/>
          </a:xfrm>
          <a:prstGeom prst="roundRect">
            <a:avLst>
              <a:gd name="adj" fmla="val 6289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51760"/>
            <a:ext cx="15782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fees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063240"/>
            <a:ext cx="15782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period for every skater, 7 days ahead, pro-rated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12694" y="1828800"/>
            <a:ext cx="2035454" cy="2194560"/>
          </a:xfrm>
          <a:prstGeom prst="roundRect">
            <a:avLst>
              <a:gd name="adj" fmla="val 6289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41294" y="205740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41294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41294" y="2651760"/>
            <a:ext cx="15782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overdue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041294" y="3063240"/>
            <a:ext cx="15782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the grace period → overdue, in the academy’s timezone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76749" y="1828800"/>
            <a:ext cx="2035454" cy="2194560"/>
          </a:xfrm>
          <a:prstGeom prst="roundRect">
            <a:avLst>
              <a:gd name="adj" fmla="val 6289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5349" y="205740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5349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05349" y="2651760"/>
            <a:ext cx="15782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Expire lapsed credits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305349" y="3063240"/>
            <a:ext cx="15782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Unused classes on an ended term are expired, with a ledger line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40803" y="1828800"/>
            <a:ext cx="2035454" cy="2194560"/>
          </a:xfrm>
          <a:prstGeom prst="roundRect">
            <a:avLst>
              <a:gd name="adj" fmla="val 6289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69403" y="205740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69403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69403" y="2651760"/>
            <a:ext cx="15782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advances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569403" y="3063240"/>
            <a:ext cx="15782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paid ahead goes onto the open fee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604858" y="1828800"/>
            <a:ext cx="2035454" cy="2194560"/>
          </a:xfrm>
          <a:prstGeom prst="roundRect">
            <a:avLst>
              <a:gd name="adj" fmla="val 6289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33458" y="205740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83345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833458" y="2651760"/>
            <a:ext cx="15782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reminders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33458" y="3063240"/>
            <a:ext cx="15782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due, overdue, renewal — opt-in, never more than weekly per family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3891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 settings the office can change without a developer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4846320"/>
            <a:ext cx="1842516" cy="292608"/>
          </a:xfrm>
          <a:prstGeom prst="roundRect">
            <a:avLst>
              <a:gd name="adj" fmla="val 50000"/>
            </a:avLst>
          </a:prstGeom>
          <a:solidFill>
            <a:srgbClr val="0F2A33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4846320"/>
            <a:ext cx="1842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Timezone &amp; currency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28316" y="4846320"/>
            <a:ext cx="1997964" cy="292608"/>
          </a:xfrm>
          <a:prstGeom prst="roundRect">
            <a:avLst>
              <a:gd name="adj" fmla="val 50000"/>
            </a:avLst>
          </a:prstGeom>
          <a:solidFill>
            <a:srgbClr val="0F2A33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528316" y="4846320"/>
            <a:ext cx="19979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lead &amp; grace days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4846320"/>
            <a:ext cx="1453896" cy="292608"/>
          </a:xfrm>
          <a:prstGeom prst="roundRect">
            <a:avLst>
              <a:gd name="adj" fmla="val 50000"/>
            </a:avLst>
          </a:prstGeom>
          <a:solidFill>
            <a:srgbClr val="0F2A33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663440" y="4846320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prefix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54496" y="4846320"/>
            <a:ext cx="2619756" cy="292608"/>
          </a:xfrm>
          <a:prstGeom prst="roundRect">
            <a:avLst>
              <a:gd name="adj" fmla="val 50000"/>
            </a:avLst>
          </a:prstGeom>
          <a:solidFill>
            <a:srgbClr val="0F2A33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54496" y="4846320"/>
            <a:ext cx="2619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Top-up minimums (8 / 24 / 96)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011412" y="4846320"/>
            <a:ext cx="1997964" cy="292608"/>
          </a:xfrm>
          <a:prstGeom prst="roundRect">
            <a:avLst>
              <a:gd name="adj" fmla="val 50000"/>
            </a:avLst>
          </a:prstGeom>
          <a:solidFill>
            <a:srgbClr val="0F2A33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011412" y="4846320"/>
            <a:ext cx="19979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window (days)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5257800"/>
            <a:ext cx="2308860" cy="292608"/>
          </a:xfrm>
          <a:prstGeom prst="roundRect">
            <a:avLst>
              <a:gd name="adj" fmla="val 50000"/>
            </a:avLst>
          </a:prstGeom>
          <a:solidFill>
            <a:srgbClr val="0F2A33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48640" y="5257800"/>
            <a:ext cx="23088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approval on / off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994660" y="5257800"/>
            <a:ext cx="2542032" cy="292608"/>
          </a:xfrm>
          <a:prstGeom prst="roundRect">
            <a:avLst>
              <a:gd name="adj" fmla="val 50000"/>
            </a:avLst>
          </a:prstGeom>
          <a:solidFill>
            <a:srgbClr val="0F2A33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994660" y="525780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Auto-reminders &amp; days before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PRSA Skating Academy · Academy Management Platform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like a product, not a prototype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QA cycle was executed in the browser, every defect fixed and re-verified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567178" cy="1417320"/>
          </a:xfrm>
          <a:prstGeom prst="roundRect">
            <a:avLst>
              <a:gd name="adj" fmla="val 9032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19072"/>
            <a:ext cx="2109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50592"/>
            <a:ext cx="2109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cases executed across every module and role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90138" y="1554480"/>
            <a:ext cx="2567178" cy="1417320"/>
          </a:xfrm>
          <a:prstGeom prst="roundRect">
            <a:avLst>
              <a:gd name="adj" fmla="val 9032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8738" y="1719072"/>
            <a:ext cx="2109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→ 0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618738" y="2450592"/>
            <a:ext cx="2109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found → open after the fix cycle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31636" y="1554480"/>
            <a:ext cx="2567178" cy="1417320"/>
          </a:xfrm>
          <a:prstGeom prst="roundRect">
            <a:avLst>
              <a:gd name="adj" fmla="val 9032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0236" y="1719072"/>
            <a:ext cx="2109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60236" y="2450592"/>
            <a:ext cx="2109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 on the business rules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73134" y="1554480"/>
            <a:ext cx="2567178" cy="1417320"/>
          </a:xfrm>
          <a:prstGeom prst="roundRect">
            <a:avLst>
              <a:gd name="adj" fmla="val 9032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01734" y="1719072"/>
            <a:ext cx="2109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9301734" y="2450592"/>
            <a:ext cx="2109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browser tests (login, payments, bookings)</a:t>
            </a:r>
            <a:endParaRPr lang="en-US" sz="11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48640" y="3246120"/>
          <a:ext cx="56692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6492240" y="3291840"/>
            <a:ext cx="5166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Smoke, functional, negative, boundary, role isolation, responsive (375 / 768 / 1280), error handling, regression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rules proven end to end: partial payments, overpay cap, voids, receipts, reconciliation all matched the ledger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 verified in the ledger for every attendance transition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Typecheck, lint, unit and browser tests must be green before any release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PRSA Skating Academy · Academy Management Platform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be maintained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Modern, mainstream stack — and documentation written for a non-technical owner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94960" cy="822960"/>
          </a:xfrm>
          <a:prstGeom prst="roundRect">
            <a:avLst>
              <a:gd name="adj" fmla="val 15556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0136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80136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· TypeScript · Vite · Tailwind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5394960" cy="822960"/>
          </a:xfrm>
          <a:prstGeom prst="roundRect">
            <a:avLst>
              <a:gd name="adj" fmla="val 15556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76148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auth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76148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(Postgres, row-level security, storage)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5394960" cy="822960"/>
          </a:xfrm>
          <a:prstGeom prst="roundRect">
            <a:avLst>
              <a:gd name="adj" fmla="val 15556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72160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logic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372160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versioned database migrations; nightly Edge Function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5394960" cy="822960"/>
          </a:xfrm>
          <a:prstGeom prst="roundRect">
            <a:avLst>
              <a:gd name="adj" fmla="val 15556"/>
            </a:avLst>
          </a:prstGeom>
          <a:solidFill>
            <a:srgbClr val="121B2E"/>
          </a:solidFill>
          <a:ln w="9525">
            <a:solidFill>
              <a:srgbClr val="2532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68172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468172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· Playwright · ESLint · strict TypeScript · Sentry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1691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that ships with the code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103120"/>
            <a:ext cx="5212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 — step-by-step operations: settings, month-end, email provider, approvals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— every change in plain language, dated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— why each rule works the way it does, with the alternatives considered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DATA-MODEL — every table, column and policy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guides — screens, rules, edge cases and known limits per module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pack — test plan, 187 cases, execution report, readiness report (PDF)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PRSA Skating Academy · Academy Management Platform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plan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between today and the first family logging 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19072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6459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email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1645920"/>
            <a:ext cx="7251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SMTP provider in Supabase so invites and reminders are not rate-limited (the only open item from QA)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286000"/>
            <a:ext cx="0" cy="274320"/>
          </a:xfrm>
          <a:prstGeom prst="line">
            <a:avLst/>
          </a:prstGeom>
          <a:noFill/>
          <a:ln w="12700">
            <a:solidFill>
              <a:srgbClr val="2532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33472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5603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the academy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2560320"/>
            <a:ext cx="7251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Batches, coaches, fee plans, levels &amp; skills; import skaters and parents; set timezone, receipt prefix and minimums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3200400"/>
            <a:ext cx="0" cy="274320"/>
          </a:xfrm>
          <a:prstGeom prst="line">
            <a:avLst/>
          </a:prstGeom>
          <a:noFill/>
          <a:ln w="12700">
            <a:solidFill>
              <a:srgbClr val="2532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547872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47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4747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with one batch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3474720"/>
            <a:ext cx="7251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weeks: coach marks attendance, parents book, office records fees; adjust settings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4114800"/>
            <a:ext cx="0" cy="274320"/>
          </a:xfrm>
          <a:prstGeom prst="line">
            <a:avLst/>
          </a:prstGeom>
          <a:noFill/>
          <a:ln w="12700">
            <a:solidFill>
              <a:srgbClr val="2532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462272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462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389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out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389120" y="4389120"/>
            <a:ext cx="7251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every family; announce through the app; switch reminders 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2960" y="5029200"/>
            <a:ext cx="0" cy="274320"/>
          </a:xfrm>
          <a:prstGeom prst="line">
            <a:avLst/>
          </a:prstGeom>
          <a:noFill/>
          <a:ln w="12700">
            <a:solidFill>
              <a:srgbClr val="2532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376672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5376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3035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over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389120" y="5303520"/>
            <a:ext cx="7251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walkthrough of the RUNBOOK; monthly reconciliation routine; support contact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2286000"/>
            <a:ext cx="6400800" cy="6400800"/>
          </a:xfrm>
          <a:prstGeom prst="ellipse">
            <a:avLst/>
          </a:prstGeom>
          <a:solidFill>
            <a:srgbClr val="0F2A33"/>
          </a:solidFill>
          <a:ln w="12700">
            <a:solidFill>
              <a:srgbClr val="0F2A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1945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Questions, a live walkthrough, or a pilot batch — whenever you are ready.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760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PRSA · Skating Academy Management Platform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PRSA Skating Academy — Academy Management Platform</dc:title>
  <dc:subject>PptxGenJS Presentation</dc:subject>
  <dc:creator>PRSA</dc:creator>
  <cp:lastModifiedBy>PRSA</cp:lastModifiedBy>
  <cp:revision>1</cp:revision>
  <dcterms:created xsi:type="dcterms:W3CDTF">2026-09-18T22:56:54Z</dcterms:created>
  <dcterms:modified xsi:type="dcterms:W3CDTF">2026-09-18T22:56:54Z</dcterms:modified>
</cp:coreProperties>
</file>